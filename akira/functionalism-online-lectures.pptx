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07040" y="0"/>
            <a:ext cx="1581912" cy="1554480"/>
          </a:xfrm>
          <a:prstGeom prst="roundRect">
            <a:avLst/>
          </a:prstGeom>
          <a:solidFill>
            <a:srgbClr val="DF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5212080"/>
            <a:ext cx="2286000" cy="1645920"/>
          </a:xfrm>
          <a:prstGeom prst="roundRect">
            <a:avLst/>
          </a:prstGeom>
          <a:solidFill>
            <a:srgbClr val="F4E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1920240" cy="310896"/>
          </a:xfrm>
          <a:prstGeom prst="roundRect">
            <a:avLst/>
          </a:prstGeom>
          <a:solidFill>
            <a:srgbClr val="C7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92024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FUNCTIONALISM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41248"/>
            <a:ext cx="72237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 i="0">
                <a:solidFill>
                  <a:srgbClr val="1E2A44"/>
                </a:solidFill>
                <a:latin typeface="Georgia"/>
              </a:rPr>
              <a:t>The problem functionalism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8521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50" b="0" i="1">
                <a:solidFill>
                  <a:srgbClr val="566173"/>
                </a:solidFill>
                <a:latin typeface="Calibri"/>
              </a:rPr>
              <a:t>Lecture 1 · Why functionalism appears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840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146304" cy="914400"/>
          </a:xfrm>
          <a:prstGeom prst="rect">
            <a:avLst/>
          </a:prstGeom>
          <a:solidFill>
            <a:srgbClr val="C7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993392"/>
            <a:ext cx="352958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 i="0">
                <a:solidFill>
                  <a:srgbClr val="242C3C"/>
                </a:solidFill>
                <a:latin typeface="Georgia"/>
              </a:rPr>
              <a:t>Identity theory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359152"/>
            <a:ext cx="3529584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 i="0">
                <a:solidFill>
                  <a:srgbClr val="566173"/>
                </a:solidFill>
                <a:latin typeface="Calibri"/>
              </a:rPr>
              <a:t>Mental states are identical to specific brain states.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07792"/>
            <a:ext cx="3840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907792"/>
            <a:ext cx="146304" cy="9144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072384"/>
            <a:ext cx="352958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 i="0">
                <a:solidFill>
                  <a:srgbClr val="242C3C"/>
                </a:solidFill>
                <a:latin typeface="Georgia"/>
              </a:rPr>
              <a:t>The substrate worry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438144"/>
            <a:ext cx="3529584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 i="0">
                <a:solidFill>
                  <a:srgbClr val="566173"/>
                </a:solidFill>
                <a:latin typeface="Calibri"/>
              </a:rPr>
              <a:t>That only works if one physical substrate is doing all the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86784"/>
            <a:ext cx="3840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986784"/>
            <a:ext cx="146304" cy="914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151376"/>
            <a:ext cx="352958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 i="0">
                <a:solidFill>
                  <a:srgbClr val="242C3C"/>
                </a:solidFill>
                <a:latin typeface="Georgia"/>
              </a:rPr>
              <a:t>Functionalism enters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517136"/>
            <a:ext cx="3529584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 i="0">
                <a:solidFill>
                  <a:srgbClr val="566173"/>
                </a:solidFill>
                <a:latin typeface="Calibri"/>
              </a:rPr>
              <a:t>The substrate story looks too narrow.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0" y="2148840"/>
            <a:ext cx="1188720" cy="822960"/>
          </a:xfrm>
          <a:prstGeom prst="ellipse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2313432"/>
            <a:ext cx="118872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 i="0">
                <a:solidFill>
                  <a:srgbClr val="F7F4EF"/>
                </a:solidFill>
                <a:latin typeface="Calibri"/>
              </a:rPr>
              <a:t>Mind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1783080"/>
            <a:ext cx="3840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3760" y="1783080"/>
            <a:ext cx="146304" cy="841248"/>
          </a:xfrm>
          <a:prstGeom prst="rect">
            <a:avLst/>
          </a:prstGeom>
          <a:solidFill>
            <a:srgbClr val="C7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3216" y="1865376"/>
            <a:ext cx="20574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50" b="1" i="0">
                <a:solidFill>
                  <a:srgbClr val="1E2A44"/>
                </a:solidFill>
                <a:latin typeface="Georgia"/>
              </a:rPr>
              <a:t>Dualism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3216" y="2148840"/>
            <a:ext cx="315468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80" b="0" i="0">
                <a:solidFill>
                  <a:srgbClr val="566173"/>
                </a:solidFill>
                <a:latin typeface="Calibri"/>
              </a:rPr>
              <a:t>Mind and matter are distinct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6675120" y="2203704"/>
            <a:ext cx="548640" cy="356616"/>
          </a:xfrm>
          <a:prstGeom prst="line">
            <a:avLst/>
          </a:prstGeom>
          <a:ln w="25400">
            <a:solidFill>
              <a:srgbClr val="C7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223760" y="2926080"/>
            <a:ext cx="3840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2926080"/>
            <a:ext cx="146304" cy="841248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43216" y="3008376"/>
            <a:ext cx="20574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50" b="1" i="0">
                <a:solidFill>
                  <a:srgbClr val="1E2A44"/>
                </a:solidFill>
                <a:latin typeface="Georgia"/>
              </a:rPr>
              <a:t>Identity theory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291840"/>
            <a:ext cx="315468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80" b="0" i="0">
                <a:solidFill>
                  <a:srgbClr val="566173"/>
                </a:solidFill>
                <a:latin typeface="Calibri"/>
              </a:rPr>
              <a:t>Mental state = brain state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675120" y="2560320"/>
            <a:ext cx="548640" cy="786384"/>
          </a:xfrm>
          <a:prstGeom prst="line">
            <a:avLst/>
          </a:prstGeom>
          <a:ln w="25400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223760" y="4069080"/>
            <a:ext cx="3840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23760" y="4069080"/>
            <a:ext cx="146304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6" y="4151376"/>
            <a:ext cx="20574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50" b="1" i="0">
                <a:solidFill>
                  <a:srgbClr val="1E2A44"/>
                </a:solidFill>
                <a:latin typeface="Georgia"/>
              </a:rPr>
              <a:t>Functionalism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3216" y="4434840"/>
            <a:ext cx="315468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80" b="0" i="0">
                <a:solidFill>
                  <a:srgbClr val="566173"/>
                </a:solidFill>
                <a:latin typeface="Calibri"/>
              </a:rPr>
              <a:t>Mental state = role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675120" y="2560320"/>
            <a:ext cx="548640" cy="1929384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49240" y="5074920"/>
            <a:ext cx="58521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900" b="1" i="1">
                <a:solidFill>
                  <a:srgbClr val="1E2A44"/>
                </a:solidFill>
                <a:latin typeface="Calibri"/>
              </a:rPr>
              <a:t>Substrate-only explanations start to feel too narrow.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1270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6446520"/>
            <a:ext cx="42062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 i="0">
                <a:solidFill>
                  <a:srgbClr val="566173"/>
                </a:solidFill>
                <a:latin typeface="Calibri"/>
              </a:rPr>
              <a:t>Lecture 1 · Why functionalism appears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28232"/>
            <a:ext cx="7315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 i="0">
                <a:solidFill>
                  <a:srgbClr val="566173"/>
                </a:solidFill>
                <a:latin typeface="Calibri"/>
              </a:rP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920240" cy="3108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92024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FUNCTIONALISM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72237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 i="0">
                <a:solidFill>
                  <a:srgbClr val="1E2A44"/>
                </a:solidFill>
                <a:latin typeface="Georgia"/>
              </a:rPr>
              <a:t>Multiple realizability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8521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50" b="0" i="1">
                <a:solidFill>
                  <a:srgbClr val="566173"/>
                </a:solidFill>
                <a:latin typeface="Calibri"/>
              </a:rPr>
              <a:t>Lecture 1 · Same job, many possible physical realizations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7432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66543"/>
            <a:ext cx="2103120" cy="310896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210312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ONE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24028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500" b="1" i="0">
                <a:solidFill>
                  <a:srgbClr val="1E2A44"/>
                </a:solidFill>
                <a:latin typeface="Georgia"/>
              </a:rPr>
              <a:t>Same job.
Many bodies.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224028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 i="0">
                <a:solidFill>
                  <a:srgbClr val="566173"/>
                </a:solidFill>
                <a:latin typeface="Calibri"/>
              </a:rPr>
              <a:t>A functional kind is defined by what it does, not what it is made of.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4892040"/>
            <a:ext cx="2194560" cy="274320"/>
          </a:xfrm>
          <a:prstGeom prst="roundRect">
            <a:avLst/>
          </a:prstGeom>
          <a:solidFill>
            <a:srgbClr val="DF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910328"/>
            <a:ext cx="2057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 i="0">
                <a:solidFill>
                  <a:srgbClr val="242C3C"/>
                </a:solidFill>
                <a:latin typeface="Calibri"/>
              </a:rPr>
              <a:t>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5276088"/>
            <a:ext cx="2194560" cy="274320"/>
          </a:xfrm>
          <a:prstGeom prst="roundRect">
            <a:avLst/>
          </a:prstGeom>
          <a:solidFill>
            <a:srgbClr val="F4E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294376"/>
            <a:ext cx="2057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 i="0">
                <a:solidFill>
                  <a:srgbClr val="242C3C"/>
                </a:solidFill>
                <a:latin typeface="Calibri"/>
              </a:rPr>
              <a:t>mouse trap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5660136"/>
            <a:ext cx="2194560" cy="274320"/>
          </a:xfrm>
          <a:prstGeom prst="roundRect">
            <a:avLst/>
          </a:prstGeom>
          <a:solidFill>
            <a:srgbClr val="F8E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678424"/>
            <a:ext cx="2057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 i="0">
                <a:solidFill>
                  <a:srgbClr val="242C3C"/>
                </a:solidFill>
                <a:latin typeface="Calibri"/>
              </a:rPr>
              <a:t>instructor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6044183"/>
            <a:ext cx="2194560" cy="274320"/>
          </a:xfrm>
          <a:prstGeom prst="roundRect">
            <a:avLst/>
          </a:prstGeom>
          <a:solidFill>
            <a:srgbClr val="E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6062472"/>
            <a:ext cx="2057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 i="0">
                <a:solidFill>
                  <a:srgbClr val="242C3C"/>
                </a:solidFill>
                <a:latin typeface="Calibri"/>
              </a:rPr>
              <a:t>vending machine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1874519"/>
            <a:ext cx="3657600" cy="1737360"/>
          </a:xfrm>
          <a:prstGeom prst="roundRect">
            <a:avLst/>
          </a:prstGeom>
          <a:solidFill>
            <a:srgbClr val="DFEBF6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31919" y="2020823"/>
            <a:ext cx="1005840" cy="256032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19" y="2039111"/>
            <a:ext cx="100584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79" y="2606039"/>
            <a:ext cx="1371600" cy="109728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33087" y="2715767"/>
            <a:ext cx="73152" cy="53035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85231" y="2715767"/>
            <a:ext cx="73152" cy="53035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19" y="3227831"/>
            <a:ext cx="32918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 i="0">
                <a:solidFill>
                  <a:srgbClr val="566173"/>
                </a:solidFill>
                <a:latin typeface="Calibri"/>
              </a:rPr>
              <a:t>one role → many realizers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1874519"/>
            <a:ext cx="3657600" cy="1737360"/>
          </a:xfrm>
          <a:prstGeom prst="roundRect">
            <a:avLst/>
          </a:prstGeom>
          <a:solidFill>
            <a:srgbClr val="F4E0D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18120" y="2020823"/>
            <a:ext cx="1005840" cy="256032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2039111"/>
            <a:ext cx="100584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Mouse trap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2660903"/>
            <a:ext cx="1645920" cy="256032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rc 29"/>
          <p:cNvSpPr/>
          <p:nvPr/>
        </p:nvSpPr>
        <p:spPr>
          <a:xfrm>
            <a:off x="8458200" y="2404871"/>
            <a:ext cx="640080" cy="548640"/>
          </a:xfrm>
          <a:prstGeom prst="arc">
            <a:avLst/>
          </a:prstGeom>
          <a:ln w="38100">
            <a:solidFill>
              <a:srgbClr val="C7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raight Connector 30"/>
          <p:cNvSpPr/>
          <p:nvPr/>
        </p:nvSpPr>
        <p:spPr>
          <a:xfrm>
            <a:off x="8732520" y="2606039"/>
            <a:ext cx="731520" cy="182880"/>
          </a:xfrm>
          <a:prstGeom prst="lineInv">
            <a:avLst/>
          </a:prstGeom>
          <a:ln w="38100">
            <a:solidFill>
              <a:srgbClr val="C7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3227831"/>
            <a:ext cx="32918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 i="0">
                <a:solidFill>
                  <a:srgbClr val="566173"/>
                </a:solidFill>
                <a:latin typeface="Calibri"/>
              </a:rPr>
              <a:t>one role → many realizers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49039" y="3749039"/>
            <a:ext cx="3657600" cy="1737360"/>
          </a:xfrm>
          <a:prstGeom prst="roundRect">
            <a:avLst/>
          </a:prstGeom>
          <a:solidFill>
            <a:srgbClr val="F8EED7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931919" y="3895343"/>
            <a:ext cx="1005840" cy="256032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19" y="3913631"/>
            <a:ext cx="100584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Instructor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90287" y="4599431"/>
            <a:ext cx="713232" cy="310896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18887" y="4261103"/>
            <a:ext cx="256032" cy="256032"/>
          </a:xfrm>
          <a:prstGeom prst="ellipse">
            <a:avLst/>
          </a:prstGeom>
          <a:solidFill>
            <a:srgbClr val="7D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709159" y="4498847"/>
            <a:ext cx="475488" cy="384048"/>
          </a:xfrm>
          <a:prstGeom prst="roundRect">
            <a:avLst/>
          </a:prstGeom>
          <a:solidFill>
            <a:srgbClr val="C7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19" y="5102351"/>
            <a:ext cx="32918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 i="0">
                <a:solidFill>
                  <a:srgbClr val="566173"/>
                </a:solidFill>
                <a:latin typeface="Calibri"/>
              </a:rPr>
              <a:t>one role → many realizers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35240" y="3749039"/>
            <a:ext cx="3657600" cy="1737360"/>
          </a:xfrm>
          <a:prstGeom prst="roundRect">
            <a:avLst/>
          </a:prstGeom>
          <a:solidFill>
            <a:srgbClr val="E5F3F0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818120" y="3895343"/>
            <a:ext cx="1005840" cy="256032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18120" y="3913631"/>
            <a:ext cx="100584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Vending machine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03920" y="4206239"/>
            <a:ext cx="960120" cy="91440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86216" y="4315967"/>
            <a:ext cx="219456" cy="73152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586216" y="4517135"/>
            <a:ext cx="219456" cy="73152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86216" y="4718303"/>
            <a:ext cx="219456" cy="73152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69680" y="4837175"/>
            <a:ext cx="164592" cy="164592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18120" y="5102351"/>
            <a:ext cx="32918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 i="0">
                <a:solidFill>
                  <a:srgbClr val="566173"/>
                </a:solidFill>
                <a:latin typeface="Calibri"/>
              </a:rPr>
              <a:t>one role → many realizers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1270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48640" y="6446520"/>
            <a:ext cx="42062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 i="0">
                <a:solidFill>
                  <a:srgbClr val="566173"/>
                </a:solidFill>
                <a:latin typeface="Calibri"/>
              </a:rPr>
              <a:t>Lecture 1 · Why functionalism appears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428232"/>
            <a:ext cx="7315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 i="0">
                <a:solidFill>
                  <a:srgbClr val="566173"/>
                </a:solidFill>
                <a:latin typeface="Calibri"/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583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920240" cy="310896"/>
          </a:xfrm>
          <a:prstGeom prst="round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92024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FUNCTIONALISM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72237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Georgia"/>
              </a:rPr>
              <a:t>The identity theory breaks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8521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50" b="0" i="1">
                <a:solidFill>
                  <a:srgbClr val="DCE0E8"/>
                </a:solidFill>
                <a:latin typeface="Calibri"/>
              </a:rPr>
              <a:t>Lecture 1 · Octopuses are the pressure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645920"/>
            <a:ext cx="4023360" cy="640080"/>
          </a:xfrm>
          <a:prstGeom prst="round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1755648"/>
            <a:ext cx="402336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 i="0">
                <a:solidFill>
                  <a:srgbClr val="242C3C"/>
                </a:solidFill>
                <a:latin typeface="Calibri"/>
              </a:rPr>
              <a:t>PAIN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377440"/>
            <a:ext cx="4343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0" i="0">
                <a:solidFill>
                  <a:srgbClr val="E1E1E6"/>
                </a:solidFill>
                <a:latin typeface="Calibri"/>
              </a:rPr>
              <a:t>same label — different internal hardware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4937760" cy="3566160"/>
          </a:xfrm>
          <a:prstGeom prst="roundRect">
            <a:avLst/>
          </a:prstGeom>
          <a:solidFill>
            <a:srgbClr val="2B3041"/>
          </a:solidFill>
          <a:ln>
            <a:solidFill>
              <a:srgbClr val="444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340864"/>
            <a:ext cx="1143000" cy="274320"/>
          </a:xfrm>
          <a:prstGeom prst="roundRect">
            <a:avLst/>
          </a:prstGeom>
          <a:solidFill>
            <a:srgbClr val="C7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59152"/>
            <a:ext cx="114300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HUMAN</a:t>
            </a:r>
          </a:p>
        </p:txBody>
      </p:sp>
      <p:sp>
        <p:nvSpPr>
          <p:cNvPr id="13" name="Oval 12"/>
          <p:cNvSpPr/>
          <p:nvPr/>
        </p:nvSpPr>
        <p:spPr>
          <a:xfrm>
            <a:off x="1463040" y="2761488"/>
            <a:ext cx="1371600" cy="1417320"/>
          </a:xfrm>
          <a:prstGeom prst="ellipse">
            <a:avLst/>
          </a:prstGeom>
          <a:solidFill>
            <a:srgbClr val="DFD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64208" y="3054096"/>
            <a:ext cx="91440" cy="91440"/>
          </a:xfrm>
          <a:prstGeom prst="ellipse">
            <a:avLst/>
          </a:prstGeom>
          <a:solidFill>
            <a:srgbClr val="C7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47088" y="2880360"/>
            <a:ext cx="91440" cy="91440"/>
          </a:xfrm>
          <a:prstGeom prst="ellipse">
            <a:avLst/>
          </a:prstGeom>
          <a:solidFill>
            <a:srgbClr val="C7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57400" y="3127248"/>
            <a:ext cx="91440" cy="91440"/>
          </a:xfrm>
          <a:prstGeom prst="ellipse">
            <a:avLst/>
          </a:prstGeom>
          <a:solidFill>
            <a:srgbClr val="C7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76272" y="2926080"/>
            <a:ext cx="91440" cy="91440"/>
          </a:xfrm>
          <a:prstGeom prst="ellipse">
            <a:avLst/>
          </a:prstGeom>
          <a:solidFill>
            <a:srgbClr val="C7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28800" y="3273552"/>
            <a:ext cx="91440" cy="91440"/>
          </a:xfrm>
          <a:prstGeom prst="ellipse">
            <a:avLst/>
          </a:prstGeom>
          <a:solidFill>
            <a:srgbClr val="C7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1737360" y="2944368"/>
            <a:ext cx="347471" cy="164592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47088" y="2880360"/>
            <a:ext cx="201168" cy="246888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828800" y="2953512"/>
            <a:ext cx="320040" cy="32004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17520" y="2880360"/>
            <a:ext cx="201168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F7F4EF"/>
                </a:solidFill>
                <a:latin typeface="Georgia"/>
              </a:rPr>
              <a:t>looks one way
inside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438912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50" b="0" i="0">
                <a:solidFill>
                  <a:srgbClr val="D8DBE4"/>
                </a:solidFill>
                <a:latin typeface="Calibri"/>
              </a:rPr>
              <a:t>If pain were identical to one human brain state, other creatures would be excluded.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148840"/>
            <a:ext cx="5074920" cy="3566160"/>
          </a:xfrm>
          <a:prstGeom prst="roundRect">
            <a:avLst/>
          </a:prstGeom>
          <a:solidFill>
            <a:srgbClr val="2B3041"/>
          </a:solidFill>
          <a:ln>
            <a:solidFill>
              <a:srgbClr val="444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37960" y="2340864"/>
            <a:ext cx="1234440" cy="274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359152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OCTOPUS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0" y="2761488"/>
            <a:ext cx="1325880" cy="1143000"/>
          </a:xfrm>
          <a:prstGeom prst="ellipse">
            <a:avLst/>
          </a:prstGeom>
          <a:solidFill>
            <a:srgbClr val="DFD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>
            <a:off x="7059168" y="3794760"/>
            <a:ext cx="301752" cy="960120"/>
          </a:xfrm>
          <a:prstGeom prst="line">
            <a:avLst/>
          </a:prstGeom>
          <a:ln w="25400">
            <a:solidFill>
              <a:srgbClr val="C7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196328" y="3813048"/>
            <a:ext cx="210312" cy="758952"/>
          </a:xfrm>
          <a:prstGeom prst="line">
            <a:avLst/>
          </a:prstGeom>
          <a:ln w="25400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287768" y="3794760"/>
            <a:ext cx="283464" cy="960120"/>
          </a:xfrm>
          <a:prstGeom prst="line">
            <a:avLst/>
          </a:prstGeom>
          <a:ln w="25400">
            <a:solidFill>
              <a:srgbClr val="C7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424927" y="3813048"/>
            <a:ext cx="192025" cy="758952"/>
          </a:xfrm>
          <a:prstGeom prst="line">
            <a:avLst/>
          </a:prstGeom>
          <a:ln w="25400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059168" y="3794760"/>
            <a:ext cx="722376" cy="960120"/>
          </a:xfrm>
          <a:prstGeom prst="line">
            <a:avLst/>
          </a:prstGeom>
          <a:ln w="25400">
            <a:solidFill>
              <a:srgbClr val="C7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7196328" y="3813048"/>
            <a:ext cx="630936" cy="758952"/>
          </a:xfrm>
          <a:prstGeom prst="line">
            <a:avLst/>
          </a:prstGeom>
          <a:ln w="25400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287768" y="3794760"/>
            <a:ext cx="704088" cy="960120"/>
          </a:xfrm>
          <a:prstGeom prst="line">
            <a:avLst/>
          </a:prstGeom>
          <a:ln w="25400">
            <a:solidFill>
              <a:srgbClr val="C7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7424927" y="3813048"/>
            <a:ext cx="612649" cy="758952"/>
          </a:xfrm>
          <a:prstGeom prst="line">
            <a:avLst/>
          </a:prstGeom>
          <a:ln w="25400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059168" y="3794760"/>
            <a:ext cx="1143000" cy="960120"/>
          </a:xfrm>
          <a:prstGeom prst="line">
            <a:avLst/>
          </a:prstGeom>
          <a:ln w="25400">
            <a:solidFill>
              <a:srgbClr val="C7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7196328" y="3813048"/>
            <a:ext cx="1051560" cy="758952"/>
          </a:xfrm>
          <a:prstGeom prst="line">
            <a:avLst/>
          </a:prstGeom>
          <a:ln w="25400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7287768" y="3794760"/>
            <a:ext cx="1124712" cy="960120"/>
          </a:xfrm>
          <a:prstGeom prst="line">
            <a:avLst/>
          </a:prstGeom>
          <a:ln w="25400">
            <a:solidFill>
              <a:srgbClr val="C7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424927" y="3813048"/>
            <a:ext cx="1033273" cy="758952"/>
          </a:xfrm>
          <a:prstGeom prst="line">
            <a:avLst/>
          </a:prstGeom>
          <a:ln w="25400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680960" y="3127248"/>
            <a:ext cx="82296" cy="82296"/>
          </a:xfrm>
          <a:prstGeom prst="ellipse">
            <a:avLst/>
          </a:prstGeom>
          <a:solidFill>
            <a:srgbClr val="583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63840" y="2926080"/>
            <a:ext cx="82296" cy="82296"/>
          </a:xfrm>
          <a:prstGeom prst="ellipse">
            <a:avLst/>
          </a:prstGeom>
          <a:solidFill>
            <a:srgbClr val="583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028431" y="3090672"/>
            <a:ext cx="82296" cy="82296"/>
          </a:xfrm>
          <a:prstGeom prst="ellipse">
            <a:avLst/>
          </a:prstGeom>
          <a:solidFill>
            <a:srgbClr val="583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2880360"/>
            <a:ext cx="237744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F7F4EF"/>
                </a:solidFill>
                <a:latin typeface="Georgia"/>
              </a:rPr>
              <a:t>different hardware
same pain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572000"/>
            <a:ext cx="443484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50" b="0" i="0">
                <a:solidFill>
                  <a:srgbClr val="D8DBE4"/>
                </a:solidFill>
                <a:latin typeface="Calibri"/>
              </a:rPr>
              <a:t>Octopuses are the lecture's pressure test: different internals, but pain still seems available.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54680" y="5806440"/>
            <a:ext cx="58521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0" i="1">
                <a:solidFill>
                  <a:srgbClr val="D2D6E0"/>
                </a:solidFill>
                <a:latin typeface="Calibri"/>
              </a:rPr>
              <a:t>Identity theory loses explanatory reach when the same function shows up in a different substrate.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1270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8640" y="6446520"/>
            <a:ext cx="42062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 i="0">
                <a:solidFill>
                  <a:srgbClr val="566173"/>
                </a:solidFill>
                <a:latin typeface="Calibri"/>
              </a:rPr>
              <a:t>Lecture 1 · Why functionalism appears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28232"/>
            <a:ext cx="7315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 i="0">
                <a:solidFill>
                  <a:srgbClr val="566173"/>
                </a:solidFill>
                <a:latin typeface="Calibri"/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920240" cy="3108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92024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FUNCTIONALISM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72237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 i="0">
                <a:solidFill>
                  <a:srgbClr val="1E2A44"/>
                </a:solidFill>
                <a:latin typeface="Georgia"/>
              </a:rPr>
              <a:t>Mental states as causal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8521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50" b="0" i="1">
                <a:solidFill>
                  <a:srgbClr val="566173"/>
                </a:solidFill>
                <a:latin typeface="Calibri"/>
              </a:rPr>
              <a:t>Lecture 2 · What functionalism says instead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926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1371600" cy="274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137160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ROLE 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14600"/>
            <a:ext cx="2377440" cy="713232"/>
          </a:xfrm>
          <a:prstGeom prst="roundRect">
            <a:avLst/>
          </a:prstGeom>
          <a:solidFill>
            <a:srgbClr val="E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587752"/>
            <a:ext cx="2057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 i="0">
                <a:solidFill>
                  <a:srgbClr val="1E2A44"/>
                </a:solidFill>
                <a:latin typeface="Georgia"/>
              </a:rP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2057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30" b="0" i="0">
                <a:solidFill>
                  <a:srgbClr val="566173"/>
                </a:solidFill>
                <a:latin typeface="Calibri"/>
              </a:rPr>
              <a:t>what comes in to the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74720"/>
            <a:ext cx="2377440" cy="713232"/>
          </a:xfrm>
          <a:prstGeom prst="roundRect">
            <a:avLst/>
          </a:prstGeom>
          <a:solidFill>
            <a:srgbClr val="F8E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547872"/>
            <a:ext cx="2057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 i="0">
                <a:solidFill>
                  <a:srgbClr val="1E2A44"/>
                </a:solidFill>
                <a:latin typeface="Georgia"/>
              </a:rPr>
              <a:t>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767328"/>
            <a:ext cx="2057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30" b="0" i="0">
                <a:solidFill>
                  <a:srgbClr val="566173"/>
                </a:solidFill>
                <a:latin typeface="Calibri"/>
              </a:rPr>
              <a:t>the intermediate causal role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34840"/>
            <a:ext cx="2377440" cy="713232"/>
          </a:xfrm>
          <a:prstGeom prst="roundRect">
            <a:avLst/>
          </a:prstGeom>
          <a:solidFill>
            <a:srgbClr val="F4E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507992"/>
            <a:ext cx="2057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 i="0">
                <a:solidFill>
                  <a:srgbClr val="1E2A44"/>
                </a:solidFill>
                <a:latin typeface="Georgia"/>
              </a:rPr>
              <a:t>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727448"/>
            <a:ext cx="2057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30" b="0" i="0">
                <a:solidFill>
                  <a:srgbClr val="566173"/>
                </a:solidFill>
                <a:latin typeface="Calibri"/>
              </a:rPr>
              <a:t>what the system does 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237744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 i="1">
                <a:solidFill>
                  <a:srgbClr val="1E2A44"/>
                </a:solidFill>
                <a:latin typeface="Calibri"/>
              </a:rPr>
              <a:t>A state is mental because of its role in a system.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274320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69080" y="2743200"/>
            <a:ext cx="146304" cy="914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2852928"/>
            <a:ext cx="16916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 i="0">
                <a:solidFill>
                  <a:srgbClr val="1E2A44"/>
                </a:solidFill>
                <a:latin typeface="Georgia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127248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30" b="0" i="0">
                <a:solidFill>
                  <a:srgbClr val="566173"/>
                </a:solidFill>
                <a:latin typeface="Calibri"/>
              </a:rPr>
              <a:t>stimulus from the world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274320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54496" y="2743200"/>
            <a:ext cx="146304" cy="91440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2852928"/>
            <a:ext cx="16916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 i="0">
                <a:solidFill>
                  <a:srgbClr val="1E2A44"/>
                </a:solidFill>
                <a:latin typeface="Georgia"/>
              </a:rPr>
              <a:t>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127248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30" b="0" i="0">
                <a:solidFill>
                  <a:srgbClr val="566173"/>
                </a:solidFill>
                <a:latin typeface="Calibri"/>
              </a:rPr>
              <a:t>the functional state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9912" y="274320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39912" y="2743200"/>
            <a:ext cx="146304" cy="914400"/>
          </a:xfrm>
          <a:prstGeom prst="rect">
            <a:avLst/>
          </a:prstGeom>
          <a:solidFill>
            <a:srgbClr val="C7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22792" y="2852928"/>
            <a:ext cx="16916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 i="0">
                <a:solidFill>
                  <a:srgbClr val="1E2A44"/>
                </a:solidFill>
                <a:latin typeface="Georgia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2792" y="3127248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30" b="0" i="0">
                <a:solidFill>
                  <a:srgbClr val="566173"/>
                </a:solidFill>
                <a:latin typeface="Calibri"/>
              </a:rPr>
              <a:t>behavior / next action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35040" y="3200400"/>
            <a:ext cx="219456" cy="0"/>
          </a:xfrm>
          <a:prstGeom prst="line">
            <a:avLst/>
          </a:prstGeom>
          <a:ln w="381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220456" y="3200400"/>
            <a:ext cx="219456" cy="0"/>
          </a:xfrm>
          <a:prstGeom prst="line">
            <a:avLst/>
          </a:prstGeom>
          <a:ln w="38100">
            <a:solidFill>
              <a:srgbClr val="C7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160520" y="4206240"/>
            <a:ext cx="6355080" cy="914400"/>
          </a:xfrm>
          <a:prstGeom prst="roundRect">
            <a:avLst/>
          </a:prstGeom>
          <a:solidFill>
            <a:srgbClr val="DF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4407408"/>
            <a:ext cx="580644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900" b="1" i="0">
                <a:solidFill>
                  <a:srgbClr val="1E2A44"/>
                </a:solidFill>
                <a:latin typeface="Calibri"/>
              </a:rPr>
              <a:t>Causes become inputs. Effects become outputs.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736592"/>
            <a:ext cx="58064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50" b="0" i="0">
                <a:solidFill>
                  <a:srgbClr val="566173"/>
                </a:solidFill>
                <a:latin typeface="Calibri"/>
              </a:rPr>
              <a:t>The same pattern can be realized in many different physical systems.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1270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446520"/>
            <a:ext cx="42062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 i="0">
                <a:solidFill>
                  <a:srgbClr val="566173"/>
                </a:solidFill>
                <a:latin typeface="Calibri"/>
              </a:rPr>
              <a:t>Lecture 2 · What functionalism says instead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28232"/>
            <a:ext cx="7315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 i="0">
                <a:solidFill>
                  <a:srgbClr val="566173"/>
                </a:solidFill>
                <a:latin typeface="Calibri"/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920240" cy="310896"/>
          </a:xfrm>
          <a:prstGeom prst="roundRect">
            <a:avLst/>
          </a:prstGeom>
          <a:solidFill>
            <a:srgbClr val="C7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92024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FUNCTIONALISM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72237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 i="0">
                <a:solidFill>
                  <a:srgbClr val="1E2A44"/>
                </a:solidFill>
                <a:latin typeface="Georgia"/>
              </a:rPr>
              <a:t>The jealousy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8521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50" b="0" i="1">
                <a:solidFill>
                  <a:srgbClr val="566173"/>
                </a:solidFill>
                <a:latin typeface="Calibri"/>
              </a:rPr>
              <a:t>Lecture 2 · Substrate can vary; causal pattern does the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572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048256"/>
            <a:ext cx="1645920" cy="274320"/>
          </a:xfrm>
          <a:prstGeom prst="roundRect">
            <a:avLst/>
          </a:prstGeom>
          <a:solidFill>
            <a:srgbClr val="C7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66544"/>
            <a:ext cx="16459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SOCIAL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514600"/>
            <a:ext cx="4023360" cy="1051560"/>
          </a:xfrm>
          <a:prstGeom prst="roundRect">
            <a:avLst/>
          </a:prstGeom>
          <a:solidFill>
            <a:srgbClr val="F4E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679192"/>
            <a:ext cx="201168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1E2A44"/>
                </a:solidFill>
                <a:latin typeface="Georgia"/>
              </a:rPr>
              <a:t>seeing a photo of an 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2651760"/>
            <a:ext cx="777240" cy="685800"/>
          </a:xfrm>
          <a:prstGeom prst="rect">
            <a:avLst/>
          </a:prstGeom>
          <a:solidFill>
            <a:srgbClr val="D6C6BE"/>
          </a:solidFill>
          <a:ln>
            <a:solidFill>
              <a:srgbClr val="C8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3840480"/>
            <a:ext cx="1965960" cy="566928"/>
          </a:xfrm>
          <a:prstGeom prst="roundRect">
            <a:avLst/>
          </a:prstGeom>
          <a:solidFill>
            <a:srgbClr val="F8E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07592" y="3977639"/>
            <a:ext cx="1554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50" b="1" i="0">
                <a:solidFill>
                  <a:srgbClr val="1E2A44"/>
                </a:solidFill>
                <a:latin typeface="Calibri"/>
              </a:rPr>
              <a:t>memory of the breakup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40" y="4114800"/>
            <a:ext cx="1508760" cy="0"/>
          </a:xfrm>
          <a:prstGeom prst="line">
            <a:avLst/>
          </a:prstGeom>
          <a:ln w="381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754880" y="3474720"/>
            <a:ext cx="1828800" cy="91440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3703320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000" b="1" i="0">
                <a:solidFill>
                  <a:srgbClr val="F7F4EF"/>
                </a:solidFill>
                <a:latin typeface="Calibri"/>
              </a:rPr>
              <a:t>JEALOUSY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572000"/>
            <a:ext cx="19659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50" b="0" i="0">
                <a:solidFill>
                  <a:srgbClr val="566173"/>
                </a:solidFill>
                <a:latin typeface="Calibri"/>
              </a:rPr>
              <a:t>the causal pattern itself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1828800"/>
            <a:ext cx="4572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33488" y="2048256"/>
            <a:ext cx="1600200" cy="274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3488" y="2066544"/>
            <a:ext cx="160020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OUTPUTS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560320"/>
            <a:ext cx="3977639" cy="694944"/>
          </a:xfrm>
          <a:prstGeom prst="roundRect">
            <a:avLst/>
          </a:prstGeom>
          <a:solidFill>
            <a:srgbClr val="DF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1" y="2724912"/>
            <a:ext cx="356616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1E2A44"/>
                </a:solidFill>
                <a:latin typeface="Georgia"/>
              </a:rPr>
              <a:t>whimpering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3474720"/>
            <a:ext cx="3977639" cy="694944"/>
          </a:xfrm>
          <a:prstGeom prst="roundRect">
            <a:avLst/>
          </a:prstGeom>
          <a:solidFill>
            <a:srgbClr val="E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1" y="3639312"/>
            <a:ext cx="356616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1E2A44"/>
                </a:solidFill>
                <a:latin typeface="Georgia"/>
              </a:rPr>
              <a:t>denial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4389120"/>
            <a:ext cx="3977639" cy="694944"/>
          </a:xfrm>
          <a:prstGeom prst="roundRect">
            <a:avLst/>
          </a:prstGeom>
          <a:solidFill>
            <a:srgbClr val="F4E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1" y="4553712"/>
            <a:ext cx="356616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1E2A44"/>
                </a:solidFill>
                <a:latin typeface="Georgia"/>
              </a:rPr>
              <a:t>defensive speech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0" y="3310128"/>
            <a:ext cx="1371600" cy="0"/>
          </a:xfrm>
          <a:prstGeom prst="line">
            <a:avLst/>
          </a:prstGeom>
          <a:ln w="25400">
            <a:solidFill>
              <a:srgbClr val="C7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040880" y="3310128"/>
            <a:ext cx="0" cy="1581912"/>
          </a:xfrm>
          <a:prstGeom prst="line">
            <a:avLst/>
          </a:prstGeom>
          <a:ln w="25400">
            <a:solidFill>
              <a:srgbClr val="C7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3657600" y="4892040"/>
            <a:ext cx="3383280" cy="0"/>
          </a:xfrm>
          <a:prstGeom prst="line">
            <a:avLst/>
          </a:prstGeom>
          <a:ln w="25400">
            <a:solidFill>
              <a:srgbClr val="C7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657600" y="4251960"/>
            <a:ext cx="0" cy="640080"/>
          </a:xfrm>
          <a:prstGeom prst="line">
            <a:avLst/>
          </a:prstGeom>
          <a:ln w="25400">
            <a:solidFill>
              <a:srgbClr val="C7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51560" y="5212080"/>
            <a:ext cx="102412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 i="0">
                <a:solidFill>
                  <a:srgbClr val="1E2A44"/>
                </a:solidFill>
                <a:latin typeface="Calibri"/>
              </a:rPr>
              <a:t>The point is not the substance. It is the pattern: input, state, output, repeat.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1270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446520"/>
            <a:ext cx="42062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 i="0">
                <a:solidFill>
                  <a:srgbClr val="566173"/>
                </a:solidFill>
                <a:latin typeface="Calibri"/>
              </a:rPr>
              <a:t>Lecture 2 · What functionalism says instead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28232"/>
            <a:ext cx="7315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 i="0">
                <a:solidFill>
                  <a:srgbClr val="566173"/>
                </a:solidFill>
                <a:latin typeface="Calibri"/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320040"/>
            <a:ext cx="3108960" cy="3108960"/>
          </a:xfrm>
          <a:prstGeom prst="ellipse">
            <a:avLst/>
          </a:prstGeom>
          <a:solidFill>
            <a:srgbClr val="26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4617720"/>
            <a:ext cx="3474720" cy="3474720"/>
          </a:xfrm>
          <a:prstGeom prst="ellipse">
            <a:avLst/>
          </a:prstGeom>
          <a:solidFill>
            <a:srgbClr val="125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502920"/>
            <a:ext cx="1371600" cy="310896"/>
          </a:xfrm>
          <a:prstGeom prst="round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21208"/>
            <a:ext cx="137160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 i="0">
                <a:solidFill>
                  <a:srgbClr val="242C3C"/>
                </a:solidFill>
                <a:latin typeface="Calibri"/>
              </a:rPr>
              <a:t>THE PAYOFF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22960"/>
            <a:ext cx="7498079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50" b="1" i="0">
                <a:solidFill>
                  <a:srgbClr val="F7F4EF"/>
                </a:solidFill>
                <a:latin typeface="Georgia"/>
              </a:rPr>
              <a:t>Functionalism keeps physicalism —
without tying mind to one material.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737360"/>
            <a:ext cx="64008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50" b="0" i="1">
                <a:solidFill>
                  <a:srgbClr val="D7DEE8"/>
                </a:solidFill>
                <a:latin typeface="Calibri"/>
              </a:rPr>
              <a:t>Lecture 2 · What functionalism says instead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3566160" cy="1828800"/>
          </a:xfrm>
          <a:prstGeom prst="roundRect">
            <a:avLst/>
          </a:prstGeom>
          <a:solidFill>
            <a:srgbClr val="29324A"/>
          </a:solidFill>
          <a:ln>
            <a:solidFill>
              <a:srgbClr val="4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146304" cy="1828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F7F4EF"/>
                </a:solidFill>
                <a:latin typeface="Georgia"/>
              </a:rPr>
              <a:t>non-human minds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07208"/>
            <a:ext cx="3200400" cy="8412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50" b="0" i="0">
                <a:solidFill>
                  <a:srgbClr val="D6DEEB"/>
                </a:solidFill>
                <a:latin typeface="Calibri"/>
              </a:rPr>
              <a:t>why octopuses — and perhaps machines — stay on the 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148840"/>
            <a:ext cx="3566160" cy="1828800"/>
          </a:xfrm>
          <a:prstGeom prst="roundRect">
            <a:avLst/>
          </a:prstGeom>
          <a:solidFill>
            <a:srgbClr val="29324A"/>
          </a:solidFill>
          <a:ln>
            <a:solidFill>
              <a:srgbClr val="4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148840"/>
            <a:ext cx="146304" cy="1828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37744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F7F4EF"/>
                </a:solidFill>
                <a:latin typeface="Georgia"/>
              </a:rPr>
              <a:t>realization independence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807208"/>
            <a:ext cx="3200400" cy="8412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50" b="0" i="0">
                <a:solidFill>
                  <a:srgbClr val="D6DEEB"/>
                </a:solidFill>
                <a:latin typeface="Calibri"/>
              </a:rPr>
              <a:t>the same mental state can live in different substrates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2148840"/>
            <a:ext cx="3566160" cy="1828800"/>
          </a:xfrm>
          <a:prstGeom prst="roundRect">
            <a:avLst/>
          </a:prstGeom>
          <a:solidFill>
            <a:srgbClr val="29324A"/>
          </a:solidFill>
          <a:ln>
            <a:solidFill>
              <a:srgbClr val="4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2148840"/>
            <a:ext cx="146304" cy="1828800"/>
          </a:xfrm>
          <a:prstGeom prst="rect">
            <a:avLst/>
          </a:prstGeom>
          <a:solidFill>
            <a:srgbClr val="C7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237744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 i="0">
                <a:solidFill>
                  <a:srgbClr val="F7F4EF"/>
                </a:solidFill>
                <a:latin typeface="Georgia"/>
              </a:rPr>
              <a:t>the new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807208"/>
            <a:ext cx="3200400" cy="8412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50" b="0" i="0">
                <a:solidFill>
                  <a:srgbClr val="D6DEEB"/>
                </a:solidFill>
                <a:latin typeface="Calibri"/>
              </a:rPr>
              <a:t>not 'what is it made of?' but 'what role does it play?'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4617720"/>
            <a:ext cx="9326880" cy="1097280"/>
          </a:xfrm>
          <a:prstGeom prst="roundRect">
            <a:avLst/>
          </a:prstGeom>
          <a:solidFill>
            <a:srgbClr val="121827"/>
          </a:solidFill>
          <a:ln>
            <a:solidFill>
              <a:srgbClr val="4B5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3080" y="4892040"/>
            <a:ext cx="87325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400" b="1" i="1">
                <a:solidFill>
                  <a:srgbClr val="D9A441"/>
                </a:solidFill>
                <a:latin typeface="Calibri"/>
              </a:rPr>
              <a:t>If it can do the job, it can be the state.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285232"/>
            <a:ext cx="87325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50" b="0" i="0">
                <a:solidFill>
                  <a:srgbClr val="C9D2E1"/>
                </a:solidFill>
                <a:latin typeface="Calibri"/>
              </a:rPr>
              <a:t>Functional roles survive changes in the underlying material.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989320"/>
            <a:ext cx="32004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50" b="0" i="0">
                <a:solidFill>
                  <a:srgbClr val="C3CDDC"/>
                </a:solidFill>
                <a:latin typeface="Calibri"/>
              </a:rPr>
              <a:t>Functionalism · Lecture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5961888"/>
            <a:ext cx="13258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50" b="0" i="0">
                <a:solidFill>
                  <a:srgbClr val="C3CDD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Functionalism — 2 Online Lectures, 6 Slides</dc:title>
  <dc:subject>Philosophy of mind / functionalism</dc:subject>
  <dc:creator>Hermes Agent</dc:creator>
  <cp:keywords/>
  <dc:description>Generated from the Functionalism lecture outline in the Akira vault.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